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8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8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1_img1_Imag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46304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5496"/>
                </a:solidFill>
                <a:latin typeface="Calibri"/>
              </a:rPr>
              <a:t>SMART HEAL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01952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Calibri"/>
              </a:rPr>
              <a:t>Integrated Hospital Management
and Patient Care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Calibri"/>
              </a:rPr>
              <a:t>Community Service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990088"/>
            <a:ext cx="3886200" cy="16158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rgbClr val="000000"/>
                </a:solidFill>
                <a:latin typeface="Calibri"/>
              </a:rPr>
              <a:t>By
PEELA BHAVYA SRI - 24L31A43D1
RONGALA VINAY VARSHIT - 24L31A43F3
SARA VAKOTA SHANMUKHA ASHRITH - 24L31A43F7
TELU SRINIVASA CHANDRA MOULI - 24L31A43H6
Under the Guidance of
</a:t>
            </a:r>
            <a:r>
              <a:rPr lang="en-IN" sz="1100" b="0" dirty="0">
                <a:solidFill>
                  <a:srgbClr val="000000"/>
                </a:solidFill>
                <a:latin typeface="Calibri"/>
              </a:rPr>
              <a:t>Mrs.Y.Swathi</a:t>
            </a:r>
            <a:r>
              <a:rPr sz="1100" b="0" dirty="0">
                <a:solidFill>
                  <a:srgbClr val="000000"/>
                </a:solidFill>
                <a:latin typeface="Calibri"/>
              </a:rPr>
              <a:t>
Assistant Professor, CSE-AI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8432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36085" y="0"/>
            <a:ext cx="303179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dirty="0">
                <a:solidFill>
                  <a:schemeClr val="bg1"/>
                </a:solidFill>
                <a:latin typeface="Calibri"/>
              </a:rPr>
              <a:t>Presentation Outline: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956C5942-B6E9-F588-4047-CDB263C5FE01}"/>
              </a:ext>
            </a:extLst>
          </p:cNvPr>
          <p:cNvSpPr/>
          <p:nvPr/>
        </p:nvSpPr>
        <p:spPr>
          <a:xfrm>
            <a:off x="5648226" y="2141553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AA0FFD-95A9-F946-0845-8859D2CAA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10" y="699819"/>
            <a:ext cx="8506915" cy="38344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" y="-187841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46789" y="-41222"/>
            <a:ext cx="373813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dirty="0">
                <a:solidFill>
                  <a:schemeClr val="bg1"/>
                </a:solidFill>
                <a:latin typeface="Calibri"/>
              </a:rPr>
              <a:t>Introduction to Smart Heal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897237D1-008A-529E-013A-EE523815F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646" y="46143"/>
            <a:ext cx="283464" cy="283464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3D72CB-806A-2395-ACB1-77BCE2507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745784"/>
            <a:ext cx="7996824" cy="365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940" y="-168042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85662" y="32809"/>
            <a:ext cx="80467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dirty="0">
                <a:solidFill>
                  <a:schemeClr val="bg1"/>
                </a:solidFill>
                <a:latin typeface="Calibri"/>
              </a:rPr>
              <a:t>Need for Digital Hospital</a:t>
            </a:r>
            <a:r>
              <a:rPr lang="en-IN" sz="2500" b="1" dirty="0">
                <a:solidFill>
                  <a:schemeClr val="bg1"/>
                </a:solidFill>
                <a:latin typeface="Calibri"/>
              </a:rPr>
              <a:t> </a:t>
            </a:r>
            <a:r>
              <a:rPr sz="2500" b="1" dirty="0">
                <a:solidFill>
                  <a:schemeClr val="bg1"/>
                </a:solidFill>
                <a:latin typeface="Calibri"/>
              </a:rPr>
              <a:t>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71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lang="en-US" sz="1800" b="0" dirty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1BFE882-ECE9-58B5-D65D-F12C2C6927D3}"/>
              </a:ext>
            </a:extLst>
          </p:cNvPr>
          <p:cNvSpPr/>
          <p:nvPr/>
        </p:nvSpPr>
        <p:spPr>
          <a:xfrm>
            <a:off x="1176118" y="2857053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02BD5922-D81F-AEFA-F64F-9C9805846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781" y="144251"/>
            <a:ext cx="213409" cy="213409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84F823-FB2E-E201-3CA0-7FB7F695A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826653"/>
            <a:ext cx="7516368" cy="36404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" y="-115260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31659" y="10527"/>
            <a:ext cx="505080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dirty="0">
                <a:solidFill>
                  <a:schemeClr val="bg1"/>
                </a:solidFill>
                <a:latin typeface="Calibri"/>
              </a:rPr>
              <a:t>Community Survey at </a:t>
            </a:r>
            <a:r>
              <a:rPr sz="2500" b="1" dirty="0" err="1">
                <a:solidFill>
                  <a:schemeClr val="bg1"/>
                </a:solidFill>
                <a:latin typeface="Calibri"/>
              </a:rPr>
              <a:t>Gajuwaka</a:t>
            </a:r>
            <a:r>
              <a:rPr sz="2500" b="1" dirty="0">
                <a:solidFill>
                  <a:schemeClr val="bg1"/>
                </a:solidFill>
                <a:latin typeface="Calibri"/>
              </a:rPr>
              <a:t> PHC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5DC827D6-7A1F-A442-130F-B6CB0F2D0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549" y="115294"/>
            <a:ext cx="283464" cy="28346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7AF9ED-FE4B-CB88-442D-0E7B41DE4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90" y="639605"/>
            <a:ext cx="7755254" cy="38658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5997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89120" y="0"/>
            <a:ext cx="276947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dirty="0">
                <a:solidFill>
                  <a:schemeClr val="bg1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71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83589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CF137502-6F80-D1D2-DB4F-82F9360B2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646" y="119026"/>
            <a:ext cx="283464" cy="28346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DC72A0-D8EF-4871-AA6E-A81B0F6B9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46" y="660244"/>
            <a:ext cx="7548395" cy="382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" y="-214756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64808" y="-111282"/>
            <a:ext cx="345594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dirty="0">
                <a:solidFill>
                  <a:schemeClr val="bg1"/>
                </a:solidFill>
                <a:latin typeface="Calibri"/>
              </a:rPr>
              <a:t>Objectives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E27E2EA4-5213-86C3-4CD8-2E168774C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066" y="16734"/>
            <a:ext cx="283464" cy="28346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9ADEC9-C847-6A40-9D7D-E3F0BAA63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796" y="738701"/>
            <a:ext cx="7064700" cy="36725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D6911-9913-990C-C89D-CBAF8BF6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>
            <a:extLst>
              <a:ext uri="{FF2B5EF4-FFF2-40B4-BE49-F238E27FC236}">
                <a16:creationId xmlns:a16="http://schemas.microsoft.com/office/drawing/2014/main" id="{417BAA1A-5BDE-90B4-317B-087DDF089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6070"/>
            <a:ext cx="9144000" cy="5145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05E23E-C83E-0B52-5168-80BFF479C8DC}"/>
              </a:ext>
            </a:extLst>
          </p:cNvPr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7628D-500B-D6CD-F7FE-FE842E122F45}"/>
              </a:ext>
            </a:extLst>
          </p:cNvPr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56465-3BB0-D606-CCA9-63854FE3D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3" y="845687"/>
            <a:ext cx="7997104" cy="32422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81D540-7DD9-F893-91E4-AC8D2CB0232D}"/>
              </a:ext>
            </a:extLst>
          </p:cNvPr>
          <p:cNvSpPr txBox="1"/>
          <p:nvPr/>
        </p:nvSpPr>
        <p:spPr>
          <a:xfrm>
            <a:off x="4255047" y="-67218"/>
            <a:ext cx="5240458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bg1"/>
                </a:solidFill>
              </a:rPr>
              <a:t>Proposed System Overview</a:t>
            </a:r>
          </a:p>
          <a:p>
            <a:endParaRPr lang="en-IN" dirty="0"/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746C1E27-7223-3465-B2E0-BB8B15E80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951" y="26344"/>
            <a:ext cx="283464" cy="28346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</p:spTree>
    <p:extLst>
      <p:ext uri="{BB962C8B-B14F-4D97-AF65-F5344CB8AC3E}">
        <p14:creationId xmlns:p14="http://schemas.microsoft.com/office/powerpoint/2010/main" val="176976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C4816-5785-CC05-1A5A-46E9E5AB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>
            <a:extLst>
              <a:ext uri="{FF2B5EF4-FFF2-40B4-BE49-F238E27FC236}">
                <a16:creationId xmlns:a16="http://schemas.microsoft.com/office/drawing/2014/main" id="{8C10046B-7254-4321-3A85-908D234E5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-205400"/>
            <a:ext cx="9144000" cy="51450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D27384-C44D-1543-45B8-76467127BA67}"/>
              </a:ext>
            </a:extLst>
          </p:cNvPr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41994-1C6E-D395-25B7-D6F7888F4B36}"/>
              </a:ext>
            </a:extLst>
          </p:cNvPr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C90494-D3E2-93D7-B383-ECA158B0C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703" y="713342"/>
            <a:ext cx="6615953" cy="3718403"/>
          </a:xfrm>
          <a:prstGeom prst="rect">
            <a:avLst/>
          </a:prstGeom>
        </p:spPr>
      </p:pic>
      <p:pic>
        <p:nvPicPr>
          <p:cNvPr id="11" name="Image 0">
            <a:extLst>
              <a:ext uri="{FF2B5EF4-FFF2-40B4-BE49-F238E27FC236}">
                <a16:creationId xmlns:a16="http://schemas.microsoft.com/office/drawing/2014/main" id="{2B36044C-200E-9497-37DB-9E4071EB7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011" y="63702"/>
            <a:ext cx="283464" cy="283464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F9299DE-40F8-4CD3-8843-07B1E49C534A}"/>
              </a:ext>
            </a:extLst>
          </p:cNvPr>
          <p:cNvSpPr txBox="1"/>
          <p:nvPr/>
        </p:nvSpPr>
        <p:spPr>
          <a:xfrm>
            <a:off x="4248529" y="-52944"/>
            <a:ext cx="5227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404900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11" y="-119818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Patient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5BBA1-E0AF-170E-1848-B49809079835}"/>
              </a:ext>
            </a:extLst>
          </p:cNvPr>
          <p:cNvSpPr txBox="1"/>
          <p:nvPr/>
        </p:nvSpPr>
        <p:spPr>
          <a:xfrm>
            <a:off x="4177994" y="58203"/>
            <a:ext cx="53602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Patient Portal</a:t>
            </a: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69A2E9AF-B13F-BB60-1C30-27C2154F3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317" y="154975"/>
            <a:ext cx="229704" cy="22970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3DAF1C-14FC-0BFA-3920-6732B8DE0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37" y="713232"/>
            <a:ext cx="4777409" cy="36205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1657A9-DFC4-674A-6051-D2E61F863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719" y="1176518"/>
            <a:ext cx="3907766" cy="21725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4417"/>
            <a:ext cx="9144000" cy="5145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C876E-1D1D-F1AA-D313-E22C03C26DBC}"/>
              </a:ext>
            </a:extLst>
          </p:cNvPr>
          <p:cNvSpPr txBox="1"/>
          <p:nvPr/>
        </p:nvSpPr>
        <p:spPr>
          <a:xfrm>
            <a:off x="4172431" y="51850"/>
            <a:ext cx="570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Doctor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B4A9F6-07A2-7A14-145A-57EA8AE4C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837" y="657449"/>
            <a:ext cx="4818208" cy="3689719"/>
          </a:xfrm>
          <a:prstGeom prst="rect">
            <a:avLst/>
          </a:prstGeom>
        </p:spPr>
      </p:pic>
      <p:pic>
        <p:nvPicPr>
          <p:cNvPr id="10" name="Image 0">
            <a:extLst>
              <a:ext uri="{FF2B5EF4-FFF2-40B4-BE49-F238E27FC236}">
                <a16:creationId xmlns:a16="http://schemas.microsoft.com/office/drawing/2014/main" id="{2BF90B24-2CBF-5289-F70E-FB552EBBD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549" y="115295"/>
            <a:ext cx="283464" cy="283464"/>
          </a:xfrm>
          <a:prstGeom prst="rect">
            <a:avLst/>
          </a:prstGeom>
          <a:pattFill prst="openDmnd">
            <a:fgClr>
              <a:schemeClr val="bg2"/>
            </a:fgClr>
            <a:bgClr>
              <a:schemeClr val="bg1"/>
            </a:bgClr>
          </a:patt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EE769C-AF55-31C6-8BF0-E426B86FD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9400" y="1190286"/>
            <a:ext cx="4035297" cy="22413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9" y="-145997"/>
            <a:ext cx="9144000" cy="5145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008F4-97C1-54E0-B7F3-7BE6AFE95C63}"/>
              </a:ext>
            </a:extLst>
          </p:cNvPr>
          <p:cNvSpPr txBox="1"/>
          <p:nvPr/>
        </p:nvSpPr>
        <p:spPr>
          <a:xfrm>
            <a:off x="3988691" y="107070"/>
            <a:ext cx="493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Administrator Dashboard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4BA2BE-5E14-C91C-BF4D-27EBD7AF1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020" y="107070"/>
            <a:ext cx="292671" cy="3602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F51A3F-D0EF-D230-AE6D-614F4D933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7" y="729469"/>
            <a:ext cx="4328646" cy="33900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B9329A-5860-2406-CF4E-36E4A3A51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668" y="1190286"/>
            <a:ext cx="4518543" cy="2505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5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FDBB3-2463-4E80-5300-4768852767E2}"/>
              </a:ext>
            </a:extLst>
          </p:cNvPr>
          <p:cNvSpPr txBox="1"/>
          <p:nvPr/>
        </p:nvSpPr>
        <p:spPr>
          <a:xfrm>
            <a:off x="4126325" y="222837"/>
            <a:ext cx="5109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>
                <a:solidFill>
                  <a:schemeClr val="bg1"/>
                </a:solidFill>
              </a:rPr>
              <a:t>MediVault</a:t>
            </a:r>
            <a:r>
              <a:rPr lang="en-IN" sz="2000" b="1" dirty="0">
                <a:solidFill>
                  <a:schemeClr val="bg1"/>
                </a:solidFill>
              </a:rPr>
              <a:t> Module</a:t>
            </a: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7A89EBD4-0509-E1EC-B103-35E9FF28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492" y="286482"/>
            <a:ext cx="283464" cy="283464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6E5073-3AC7-7EB5-3422-55346D309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" y="1042361"/>
            <a:ext cx="5287131" cy="29220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3E286A-5255-165D-A194-40C68844E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4602" y="845784"/>
            <a:ext cx="3347419" cy="35006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" y="-139696"/>
            <a:ext cx="9144000" cy="5145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8250DC-14A0-F23B-622E-2AAEBE1E565B}"/>
              </a:ext>
            </a:extLst>
          </p:cNvPr>
          <p:cNvSpPr txBox="1"/>
          <p:nvPr/>
        </p:nvSpPr>
        <p:spPr>
          <a:xfrm>
            <a:off x="4186715" y="86670"/>
            <a:ext cx="47948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Queue Management &amp; Emergency Handling</a:t>
            </a:r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ECC891D8-FD5E-A9D9-CDEC-71C9045DB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667" y="146353"/>
            <a:ext cx="283464" cy="283464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0E0901-F002-4E34-4EE6-D907D4300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" y="815595"/>
            <a:ext cx="4794837" cy="30958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2D00D7-91BD-0D27-B374-B4B7094136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609" y="1323577"/>
            <a:ext cx="4122240" cy="22185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3680"/>
            <a:ext cx="9144000" cy="5145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886200"/>
            <a:ext cx="73152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0070C0"/>
                </a:solidFill>
                <a:latin typeface="Calibri"/>
              </a:rPr>
              <a:t>Deployment Link</a:t>
            </a:r>
            <a:r>
              <a:rPr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: https://fabulous-genie-2336c7.netlify.app/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84F4A0-7A33-DA3E-D5F5-92022690931A}"/>
              </a:ext>
            </a:extLst>
          </p:cNvPr>
          <p:cNvSpPr txBox="1"/>
          <p:nvPr/>
        </p:nvSpPr>
        <p:spPr>
          <a:xfrm>
            <a:off x="4164746" y="67507"/>
            <a:ext cx="578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Technologies Used</a:t>
            </a:r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F3D73107-17E1-03A4-030C-C9489EFE7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917" y="118217"/>
            <a:ext cx="283464" cy="28346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470393-60D9-FD95-207A-20DB00842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00" y="825960"/>
            <a:ext cx="8161688" cy="3057807"/>
          </a:xfrm>
          <a:prstGeom prst="rect">
            <a:avLst/>
          </a:prstGeom>
        </p:spPr>
      </p:pic>
      <p:pic>
        <p:nvPicPr>
          <p:cNvPr id="12" name="Image 6">
            <a:extLst>
              <a:ext uri="{FF2B5EF4-FFF2-40B4-BE49-F238E27FC236}">
                <a16:creationId xmlns:a16="http://schemas.microsoft.com/office/drawing/2014/main" id="{B825DEEF-C0FF-085E-723B-B8A40F064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2499392"/>
            <a:ext cx="146304" cy="1463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6CB0DA-BEDA-9C66-62C1-32AE8FE540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742" y="4081424"/>
            <a:ext cx="146317" cy="1463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EAEB4C-349A-3B08-2E39-AE3D0FEAFA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6259" y="3858251"/>
            <a:ext cx="196860" cy="33021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-184383"/>
            <a:ext cx="9144000" cy="514505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Calibri"/>
              </a:rPr>
              <a:t>Commnity
Survey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18488" y="2148840"/>
            <a:ext cx="283464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901952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Requirement
Analysis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148840"/>
            <a:ext cx="283464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00984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System
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16552" y="2148840"/>
            <a:ext cx="283464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00016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Frontend
Development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15583" y="2148840"/>
            <a:ext cx="283465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99048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Firebase
Integration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14616" y="2148840"/>
            <a:ext cx="283464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98080" y="1828800"/>
            <a:ext cx="1115568" cy="640080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Testing &amp;
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5496"/>
                </a:solidFill>
                <a:latin typeface="Calibri"/>
              </a:rPr>
              <a:t>Development methodology followed a systematic survey-to-deployment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16</a:t>
            </a: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0BB87732-1775-CDB6-F893-59652CF04967}"/>
              </a:ext>
            </a:extLst>
          </p:cNvPr>
          <p:cNvSpPr/>
          <p:nvPr/>
        </p:nvSpPr>
        <p:spPr>
          <a:xfrm>
            <a:off x="640080" y="3685032"/>
            <a:ext cx="475488" cy="47548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0">
            <a:extLst>
              <a:ext uri="{FF2B5EF4-FFF2-40B4-BE49-F238E27FC236}">
                <a16:creationId xmlns:a16="http://schemas.microsoft.com/office/drawing/2014/main" id="{F3052E49-1C4E-378E-4813-FA3B06C53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057" y="97498"/>
            <a:ext cx="283464" cy="283464"/>
          </a:xfrm>
          <a:prstGeom prst="rect">
            <a:avLst/>
          </a:prstGeom>
          <a:pattFill prst="pct10">
            <a:fgClr>
              <a:srgbClr val="FFFFFF"/>
            </a:fgClr>
            <a:bgClr>
              <a:schemeClr val="bg1"/>
            </a:bgClr>
          </a:pattFill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C70E391-7B2F-4E94-80CC-58676E5FC552}"/>
              </a:ext>
            </a:extLst>
          </p:cNvPr>
          <p:cNvSpPr txBox="1"/>
          <p:nvPr/>
        </p:nvSpPr>
        <p:spPr>
          <a:xfrm>
            <a:off x="4199324" y="11630"/>
            <a:ext cx="4648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dirty="0">
                <a:solidFill>
                  <a:schemeClr val="bg1"/>
                </a:solidFill>
                <a:latin typeface="Calibri"/>
              </a:rPr>
              <a:t>Development Methodology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4C483C9-BFFF-BEB7-6FDA-F7D54537F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72" y="807153"/>
            <a:ext cx="8865056" cy="35307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-122945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713232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00000"/>
                </a:solidFill>
                <a:latin typeface="Calibri"/>
              </a:rPr>
              <a:t>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Patient
Registration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35608" y="1929384"/>
            <a:ext cx="25603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69164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Login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24328" y="1929384"/>
            <a:ext cx="2743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51760" y="1600200"/>
            <a:ext cx="105156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Department
Selection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84448" y="1929384"/>
            <a:ext cx="30175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Token
Generation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18888" y="1929384"/>
            <a:ext cx="25603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Queue
Update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07608" y="1929384"/>
            <a:ext cx="16459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Doctor
Consultation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04888" y="1929384"/>
            <a:ext cx="256032" cy="0"/>
          </a:xfrm>
          <a:prstGeom prst="line">
            <a:avLst/>
          </a:prstGeom>
          <a:ln w="25400">
            <a:solidFill>
              <a:srgbClr val="0054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0920" y="1600200"/>
            <a:ext cx="960120" cy="658368"/>
          </a:xfrm>
          <a:prstGeom prst="roundRect">
            <a:avLst/>
          </a:prstGeom>
          <a:solidFill>
            <a:srgbClr val="DEEFF9"/>
          </a:solidFill>
          <a:ln w="19050">
            <a:solidFill>
              <a:srgbClr val="00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Calibri"/>
              </a:rPr>
              <a:t>MediVault
&amp; Feedback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63240"/>
            <a:ext cx="7223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Admin monitors doctor approvals, queues, activities and feedback throughout the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0A6D6-94C3-5A6D-5D39-8BF16A35A424}"/>
              </a:ext>
            </a:extLst>
          </p:cNvPr>
          <p:cNvSpPr txBox="1"/>
          <p:nvPr/>
        </p:nvSpPr>
        <p:spPr>
          <a:xfrm>
            <a:off x="4188106" y="64736"/>
            <a:ext cx="3803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System </a:t>
            </a:r>
            <a:r>
              <a:rPr lang="en-IN" sz="2000" b="1" dirty="0" err="1">
                <a:solidFill>
                  <a:schemeClr val="bg1"/>
                </a:solidFill>
              </a:rPr>
              <a:t>WorkFlow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48F7C9B-444F-0B89-E3CA-2691DA170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41" y="687295"/>
            <a:ext cx="8371006" cy="3793303"/>
          </a:xfrm>
          <a:prstGeom prst="rect">
            <a:avLst/>
          </a:prstGeom>
        </p:spPr>
      </p:pic>
      <p:pic>
        <p:nvPicPr>
          <p:cNvPr id="23" name="Image 0">
            <a:extLst>
              <a:ext uri="{FF2B5EF4-FFF2-40B4-BE49-F238E27FC236}">
                <a16:creationId xmlns:a16="http://schemas.microsoft.com/office/drawing/2014/main" id="{0D7276CC-B42E-32CD-5588-430DF201E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292" y="122979"/>
            <a:ext cx="283464" cy="283464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" y="-130629"/>
            <a:ext cx="9144000" cy="5145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1234440"/>
            <a:ext cx="7818120" cy="371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1980BC-2E51-640B-24DE-018255BF2EB6}"/>
              </a:ext>
            </a:extLst>
          </p:cNvPr>
          <p:cNvSpPr txBox="1"/>
          <p:nvPr/>
        </p:nvSpPr>
        <p:spPr>
          <a:xfrm>
            <a:off x="4137103" y="86670"/>
            <a:ext cx="5044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Implementation Highlights</a:t>
            </a: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0E070BEF-E79A-FA83-77C2-6FE255250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442" y="156041"/>
            <a:ext cx="283464" cy="28346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39B3A0-2344-8180-FC1E-7938EA256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673301"/>
            <a:ext cx="8394192" cy="37922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-200795"/>
            <a:ext cx="9144000" cy="5145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109A33-ACDF-7510-0E7D-6C477A25148F}"/>
              </a:ext>
            </a:extLst>
          </p:cNvPr>
          <p:cNvSpPr txBox="1"/>
          <p:nvPr/>
        </p:nvSpPr>
        <p:spPr>
          <a:xfrm>
            <a:off x="4083642" y="4189"/>
            <a:ext cx="374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Results and Outcomes</a:t>
            </a: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E38C633D-55A4-4CE8-61E9-D55872B15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178" y="90057"/>
            <a:ext cx="283464" cy="283464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75CDD9-7388-9CDC-C6C8-44629ABF7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960" y="695151"/>
            <a:ext cx="7701672" cy="36091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-138313"/>
            <a:ext cx="9144000" cy="5145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88A7B-4756-6EE1-CE32-6848185BF0C7}"/>
              </a:ext>
            </a:extLst>
          </p:cNvPr>
          <p:cNvSpPr txBox="1"/>
          <p:nvPr/>
        </p:nvSpPr>
        <p:spPr>
          <a:xfrm>
            <a:off x="4179500" y="58032"/>
            <a:ext cx="3719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Challenges Faced</a:t>
            </a:r>
          </a:p>
        </p:txBody>
      </p:sp>
      <p:pic>
        <p:nvPicPr>
          <p:cNvPr id="8" name="Image 0">
            <a:extLst>
              <a:ext uri="{FF2B5EF4-FFF2-40B4-BE49-F238E27FC236}">
                <a16:creationId xmlns:a16="http://schemas.microsoft.com/office/drawing/2014/main" id="{7D5536AC-DDAA-5EC8-8485-8A958900F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126" y="116355"/>
            <a:ext cx="283464" cy="28346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205AA0-0413-1BDB-F74E-4A19D7D6D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8" y="724677"/>
            <a:ext cx="7794147" cy="370717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-115261"/>
            <a:ext cx="9144000" cy="5145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0C87E0-FF41-5AB5-585D-4CD599942C5C}"/>
              </a:ext>
            </a:extLst>
          </p:cNvPr>
          <p:cNvSpPr txBox="1"/>
          <p:nvPr/>
        </p:nvSpPr>
        <p:spPr>
          <a:xfrm>
            <a:off x="4572000" y="71281"/>
            <a:ext cx="5109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Future Scope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465C69-8F76-E822-EC31-B3F0E4CCB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99" y="742361"/>
            <a:ext cx="7168907" cy="3765487"/>
          </a:xfrm>
          <a:prstGeom prst="rect">
            <a:avLst/>
          </a:prstGeom>
        </p:spPr>
      </p:pic>
      <p:pic>
        <p:nvPicPr>
          <p:cNvPr id="10" name="Image 0">
            <a:extLst>
              <a:ext uri="{FF2B5EF4-FFF2-40B4-BE49-F238E27FC236}">
                <a16:creationId xmlns:a16="http://schemas.microsoft.com/office/drawing/2014/main" id="{E6DB4D03-D637-46B9-74A6-A4C364170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262" y="171818"/>
            <a:ext cx="283464" cy="28346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" y="-122944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35148" y="32809"/>
            <a:ext cx="195438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dirty="0">
                <a:solidFill>
                  <a:schemeClr val="bg1"/>
                </a:solidFill>
                <a:latin typeface="Calibri"/>
              </a:rPr>
              <a:t>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7818120" cy="371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800" b="0" dirty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22</a:t>
            </a:r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79676268-80BA-330D-73B1-0613A7C16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130552"/>
            <a:ext cx="283464" cy="28346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748674-2BD2-779B-B0B4-1A24E1818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08" y="763385"/>
            <a:ext cx="6818715" cy="361831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it2_page2_img1_Imag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94" y="-161275"/>
            <a:ext cx="9144000" cy="51450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84479" y="-44431"/>
            <a:ext cx="163538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 dirty="0">
                <a:solidFill>
                  <a:schemeClr val="bg1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4617720"/>
            <a:ext cx="7406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Department of Computer Science &amp; Engineering-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6177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000000"/>
                </a:solidFill>
                <a:latin typeface="Calibri"/>
              </a:rPr>
              <a:t>23</a:t>
            </a:r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AA480DFC-55EC-DC29-D0AB-87C1B78A8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104" y="81978"/>
            <a:ext cx="283464" cy="283464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DB8F7-BCD4-FC71-16D3-94FA70F85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372" y="776361"/>
            <a:ext cx="7618392" cy="3592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392</Words>
  <Application>Microsoft Office PowerPoint</Application>
  <PresentationFormat>Custom</PresentationFormat>
  <Paragraphs>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Bhavya Sri Peela</dc:creator>
  <cp:keywords/>
  <dc:description>generated using python-pptx</dc:description>
  <cp:lastModifiedBy>Bhavya Sri Peela</cp:lastModifiedBy>
  <cp:revision>2</cp:revision>
  <dcterms:created xsi:type="dcterms:W3CDTF">2013-01-27T09:14:16Z</dcterms:created>
  <dcterms:modified xsi:type="dcterms:W3CDTF">2026-07-03T19:38:14Z</dcterms:modified>
  <cp:category/>
</cp:coreProperties>
</file>